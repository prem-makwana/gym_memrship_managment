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14173200" cy="8686800"/>
          </a:xfrm>
          <a:prstGeom prst="roundRect">
            <a:avLst/>
          </a:prstGeom>
          <a:solidFill>
            <a:srgbClr val="080A18"/>
          </a:solidFill>
          <a:ln w="63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E5FF"/>
                </a:solidFill>
                <a:latin typeface="Segoe UI Black"/>
              </a:defRPr>
            </a:pPr>
            <a:r>
              <a:rPr dirty="0"/>
              <a:t>⚡ GYM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rPr dirty="0"/>
              <a:t>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Segoe UI"/>
              </a:defRPr>
            </a:pPr>
            <a:r>
              <a:t>A Full-Stack ASP.NET Core MVC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Segoe UI"/>
              </a:defRPr>
            </a:pPr>
            <a:r>
              <a:t>Smart Gym Membership &amp; Fitness Center Management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55"/>
                </a:solidFill>
                <a:latin typeface="Segoe UI"/>
              </a:defRPr>
            </a:pPr>
            <a:r>
              <a:t>Academic Year  2025 –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55"/>
                </a:solidFill>
                <a:latin typeface="Segoe UI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rPr dirty="0"/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"/>
              </a:defRPr>
            </a:pPr>
            <a:r>
              <a:t>1.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2996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5CF6"/>
                </a:solidFill>
                <a:latin typeface="Segoe UI"/>
              </a:defRPr>
            </a:pPr>
            <a:r>
              <a:t>2.  The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0545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"/>
              </a:defRPr>
            </a:pPr>
            <a:r>
              <a:rPr dirty="0"/>
              <a:t>3.  Our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809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5CF6"/>
                </a:solidFill>
                <a:latin typeface="Segoe UI"/>
              </a:defRPr>
            </a:pPr>
            <a:r>
              <a:t>4.  Development Tools &amp;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564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"/>
              </a:defRPr>
            </a:pPr>
            <a:r>
              <a:t>5.  Module Breakdown &amp;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5CF6"/>
                </a:solidFill>
                <a:latin typeface="Segoe UI"/>
              </a:defRPr>
            </a:pPr>
            <a:r>
              <a:t>6.  UML Diagrams (Use Case &amp; Class)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"/>
              </a:defRPr>
            </a:pPr>
            <a:r>
              <a:t>7.  Entity-Relationship (ER)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828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5CF6"/>
                </a:solidFill>
                <a:latin typeface="Segoe UI"/>
              </a:defRPr>
            </a:pPr>
            <a:r>
              <a:t>8.  Data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583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"/>
              </a:defRPr>
            </a:pPr>
            <a:r>
              <a:t>9. 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8338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5CF6"/>
                </a:solidFill>
                <a:latin typeface="Segoe UI"/>
              </a:defRPr>
            </a:pPr>
            <a:r>
              <a:t>10. 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Project Overview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10058400" cy="256032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The Gym Membership Management System is a modern, role-based web application built using ASP.NET Core MVC that automates the complete day-to-day operations of a fitness center.</a:t>
            </a:r>
          </a:p>
          <a:p>
            <a:pPr>
              <a:spcAft>
                <a:spcPts val="96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96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It replaces manual paper-based record-keeping with a centralized, secure, database-driven platform covering member registration, membership lifecycle, attendance tracking, payments, batch/trainer management, and analytics.</a:t>
            </a:r>
          </a:p>
          <a:p>
            <a:pPr>
              <a:spcAft>
                <a:spcPts val="96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960"/>
              </a:spcAft>
              <a:defRPr sz="1600" b="1">
                <a:solidFill>
                  <a:srgbClr val="00E5FF"/>
                </a:solidFill>
                <a:latin typeface="Segoe UI"/>
              </a:defRPr>
            </a:pPr>
            <a:r>
              <a:t>The system serves 3 distinct user roles — Admin, Staff, and Member — each with tailored dashboards, permissions, and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✦  Automate member registration, membership plans, and renewals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2996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✦  Real-time attendance tracking with check-in/check-out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054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✦  Complete payment ledger with receipt generation &amp; financial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809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✦  Batch-wise class management with trainer assignment &amp; capacity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564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✦  Automatic fine calculation for late renewals with configurable grace periods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✦  In-app notification system for membership expiry, payment dues, and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074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✦  Role-based dashboards with Chart.js analytics and live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828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✦  Complete audit trail logging for all critical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583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✦  Responsive, dark-themed UI with glassmorphism design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33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✦  Secure authentication with ASP.NET Core Identity &amp; RBAC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2. THE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Problems with Current Manual /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5029200" cy="86868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8221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✗  Manual Record Keeping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 data, payments, and attendance tracked on paper registers or basic spreadsheets — prone to errors, loss, and duplication.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029200" cy="86868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38221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✗  No Centralized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Information scattered across multiple files and notebooks with no single source of truth.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79"/>
            <a:ext cx="5029200" cy="86868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8280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✗  Delayed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1663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Financial reports, attendance summaries, and membership status require hours of manual compilation.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754879"/>
            <a:ext cx="5029200" cy="86868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8280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✗  No Automated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1663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Staff must manually track expiring memberships and overdue payments — members are often not notified.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5029200" cy="86868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✗  Security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172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No role-based access; any staff can view or modify any record without audit trails.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760720"/>
            <a:ext cx="5029200" cy="86868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1A1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5833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✗  No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6172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No dashboards, charts, or real-time insights into gym operations and revenue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3. OUR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A Modern, Automated, Role-Based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3566160" cy="128016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FF14"/>
                </a:solidFill>
                <a:latin typeface="Segoe UI"/>
              </a:defRPr>
            </a:pPr>
            <a:r>
              <a:rPr dirty="0"/>
              <a:t>Centralized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rPr dirty="0"/>
              <a:t>SQL Server with Entity Framework Core — all data in one normalized, relational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749039"/>
            <a:ext cx="3566160" cy="128016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976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Admin, Staff, Member roles with ASP.NET Core Identity. RBAC on every endpoint.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749039"/>
            <a:ext cx="3566160" cy="128016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Automated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2976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Enrollment, renewal, fine calculation, notifications — all automated with service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79"/>
            <a:ext cx="3566160" cy="128016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347"/>
                </a:solidFill>
                <a:latin typeface="Segoe UI"/>
              </a:defRPr>
            </a:pPr>
            <a:r>
              <a:t>Real-Time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Chart.js analytics, live stats, batch occupancy, revenue trends — all computed from live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5212079"/>
            <a:ext cx="3566160" cy="128016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Complete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7607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Every action logged with user, timestamp, IP — full accountability and compliance.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212079"/>
            <a:ext cx="3566160" cy="128016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FF0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6E"/>
                </a:solidFill>
                <a:latin typeface="Segoe UI"/>
              </a:defRPr>
            </a:pPr>
            <a:r>
              <a:t>Responsive Dark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7607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Glassmorphism, Tailwind CSS, animated transitions — premium SaaS-grade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58468"/>
            <a:ext cx="106527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rPr dirty="0"/>
              <a:t>4. DEVELOPMENT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743200" cy="33832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ASP.NET Core MVC (.NET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531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C# Programming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28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Entity Framework Core (Code-First)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ASP.NET Core Identity (Auth)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79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LINQ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200400"/>
            <a:ext cx="2743200" cy="33832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794760"/>
            <a:ext cx="18288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79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Razor Views (.cshtml)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4531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Tailwind CSS (CDN)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4928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Bootstrap Icons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Chart.js (Dashboards)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5879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Anime.js / GSAP (Animations)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00400"/>
            <a:ext cx="2743200" cy="33832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FF14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794760"/>
            <a:ext cx="1828800" cy="381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Microsoft SQL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531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EF Core 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28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Code-First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Normalized Schema (3NF)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79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Seed Data (Demo)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3200400"/>
            <a:ext cx="2743200" cy="33832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59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347"/>
                </a:solidFill>
                <a:latin typeface="Segoe UI"/>
              </a:defRPr>
            </a:pPr>
            <a:r>
              <a:t>Tools &amp; 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3794760"/>
            <a:ext cx="1828800" cy="381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7260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Visual Studio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4531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Git Version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928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NuGet Package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Browser DevTools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5879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▸  Postman (API Testing)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92555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rPr dirty="0"/>
              <a:t>5. MODULE BREAKDOWN &amp;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Complete System Architecture — 12+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394960" cy="91440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Authentication &amp; User Mgmt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050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Login/Logout, Registration, Role assignment (Admin/Staff/Member), Password hashing, Access Denied handling, Profile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657600"/>
            <a:ext cx="5394960" cy="91440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Member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Full CRUD for member profiles. Search by name, phone, email, ID. View membership history, attendance history, and payment ledger per member.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5394960" cy="91440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FF14"/>
                </a:solidFill>
                <a:latin typeface="Segoe UI"/>
              </a:defRPr>
            </a:pPr>
            <a:r>
              <a:t>Membership Plan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566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Create/Edit/Activate/Deactivate plans (e.g., Monthly ₹999, Quarterly ₹2499, Annual ₹8999). Each plan defines duration, price, registration fee, renewal fee, late fee per day, and grace period.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709160"/>
            <a:ext cx="5394960" cy="91440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754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347"/>
                </a:solidFill>
                <a:latin typeface="Segoe UI"/>
              </a:defRPr>
            </a:pPr>
            <a:r>
              <a:t>Membership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0566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Enrollment → Active → Expiring Soon → Expired. Status is AUTO-COMPUTED from dates (not manual flags). Tracks BaseAmount, Discount, FinalAmount, PaidAmount, DueAmount, RenewalCount.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5394960" cy="91440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Batch &amp; Trainer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1081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Create batches (Morning Yoga, Evening Weights, etc.) with schedule, trainer, capacity. Enroll/transfer members. Track occupancy % with visual progress bars.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5760720"/>
            <a:ext cx="5394960" cy="91440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FF0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5806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006E"/>
                </a:solidFill>
                <a:latin typeface="Segoe UI"/>
              </a:defRPr>
            </a:pPr>
            <a:r>
              <a:t>Attendance &amp; Check-In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61081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Quick search check-in. Validates membership status, payment status. Prevents duplicate active check-in. Records CheckIn/CheckOut times, computes duration.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MODULE BREAKDOWN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Payment &amp;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93391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Record payments (Cash/UPI/Card/Bank Transfer). Generate unique receipt numbers (RCP-YYYYMMDD-XXXX). Print-friendly receipts. Member ledger view showing total fees, discounts, fines, paid, and outstanding.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55448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27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Fine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93391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Automatic late fee calculation: LateDays × LateFeePerDay. Configurable grace period. Fine statuses: Pending, Paid, Waived. Linked to membership for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FF14"/>
                </a:solidFill>
                <a:latin typeface="Segoe UI"/>
              </a:defRPr>
            </a:pPr>
            <a:r>
              <a:t>Notification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In-app notifications for: membership expiring (7/3/1 day), membership expired, payment confirmation, fine issued, batch changes. Notification bell in header with unread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20040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2735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47"/>
                </a:solidFill>
                <a:latin typeface="Segoe UI"/>
              </a:defRPr>
            </a:pPr>
            <a:r>
              <a:t>Dashboard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393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Admin: Total members, revenue, Chart.js graphs. Staff: Today's check-ins, expiring memberships, pending payments. Member: Membership card, attendance stats, payment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FF0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919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6E"/>
                </a:solidFill>
                <a:latin typeface="Segoe UI"/>
              </a:defRPr>
            </a:pPr>
            <a:r>
              <a:t>Report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1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 Report, Active/Expired Memberships, Attendance Report, Payment/Revenue Report, Fine Report, Batch-wise Report. All with date-range filters and print/export capability.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84632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919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Audit Log &amp;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85231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Every critical action logged (who, what, when, IP). System Settings: gym name, currency, expiring-soon threshold, grace period, late fee — all admin-configurable via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6. UML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3657600" cy="347472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Manage Users &amp;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Manage Membership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Manage Trainers &amp; Batches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56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All Reports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583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Configure System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Audit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63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Manage Fines &amp; 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00400"/>
            <a:ext cx="3474720" cy="347472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Register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513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Enroll / Renew Memberships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537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Assign Batches &amp; Trainers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56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Check-In / Check-Out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35838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Record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Generate Receipts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1630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00400"/>
            <a:ext cx="3474720" cy="347472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FF14"/>
                </a:solidFill>
                <a:latin typeface="Segoe UI"/>
              </a:defRPr>
            </a:pPr>
            <a:r>
              <a:t>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513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My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537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Membership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56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Attendance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5838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Payment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View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61630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◈  Upload Profile Photo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CLASS DIAGRAM  (Key Entities)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6868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ApplicationUser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2286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Id: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FullName: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323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Email: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97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IsActive: bool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CreatedAt: DateTime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1887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261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1627632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MemberId: int (PK)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0848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UserId: string (FK)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323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MembershipNumber: 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7797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Gender, DOB,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27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JoinDate,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261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9FF14"/>
                </a:solidFill>
                <a:latin typeface="Segoe UI"/>
              </a:defRPr>
            </a:pPr>
            <a:r>
              <a:t>MembershipPlan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27632"/>
            <a:ext cx="2286000" cy="381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PlanId: int (PK)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848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PlanName: 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323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DurationInDays: 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797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Price: decimal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27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LateFeePerDay: decimal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11887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1261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347"/>
                </a:solidFill>
                <a:latin typeface="Segoe UI"/>
              </a:defRPr>
            </a:pPr>
            <a:r>
              <a:t>Membership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1627632"/>
            <a:ext cx="2286000" cy="381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MembershipId: int (PK)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0848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MemberId: int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4323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PlanId: int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7797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StartDate, EndDate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127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FinalAmount, DueAmount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9319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005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70831"/>
            <a:ext cx="2286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805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BatchId: int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280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BatchName: string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7550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TrainerId: int (FK)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5229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StartTime, EndTime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704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MaxCapacity: int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46120" y="39319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37560" y="4005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Attendance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39" y="4370831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29000" y="44805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AttendanceId: int (PK)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48280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MemberId: int (FK)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17550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BatchId: int (FK)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55229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CheckInTime: DateTime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58704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DurationMinutes: int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9319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59" y="4005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9FF14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4370831"/>
            <a:ext cx="2286000" cy="381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44805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PaymentId: int (PK)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8280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ReceiptNumber: string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17550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MemberId, MembershipId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5229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Amount: decimal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8704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PaymentMethod: enum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9720" y="3931920"/>
            <a:ext cx="2834640" cy="246888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FFB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81160" y="4005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347"/>
                </a:solidFill>
                <a:latin typeface="Segoe UI"/>
              </a:defRPr>
            </a:pPr>
            <a:r>
              <a:t>Trainer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4370831"/>
            <a:ext cx="2286000" cy="381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72600" y="44805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TrainerId: int (PK)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48280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FullName: string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517550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Specialization: string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72600" y="55229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ExperienceYears: 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2600" y="58704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Status: enum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59305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4747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rPr dirty="0"/>
              <a:t>7. ENTITY-RELATIONSHIP (ER)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3625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Database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2957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rPr dirty="0"/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3625"/>
            <a:ext cx="11247120" cy="457200"/>
          </a:xfrm>
          <a:prstGeom prst="roundRect">
            <a:avLst/>
          </a:prstGeom>
          <a:solidFill>
            <a:srgbClr val="1A1E35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6105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Entity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6105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6105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Entity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6105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654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ApplicationUser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6545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654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654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Each user has one member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46857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ApplicationUser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4685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46857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StaffProfile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04685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Each user has one staff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5716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ApplicationUser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3657600" y="3257169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25716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25716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User receives many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6748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6748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46748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Membership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46748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 has many memberships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7779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67779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67779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67779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 has many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8810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888105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88810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Attendance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88810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 has many attendance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098417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09841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098417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Fine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09841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 can have many fines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30872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MemberProfile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308729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30872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BatchEnrollment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30872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 enrolled in many batches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51904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MembershipPlan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51904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51904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Membership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51904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Plan used in many memberships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72935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Membership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72935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72935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72935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Membership has many payments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93966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Membership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939665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939665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Fine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93966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Membership can have many fines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149977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Trainer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14997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5149977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514997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Trainer teaches many batches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36028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5360289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536028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BatchSchedule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536028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Batch has many schedule days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57060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557060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557060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BatchEnrollment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557060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Batch has many enrollments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578091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578091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1:N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0" y="578091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Attendance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578091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Batch has many attendance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235166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2206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8.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9486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Key Tables with Field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211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rPr dirty="0"/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09486"/>
            <a:ext cx="11247120" cy="320040"/>
          </a:xfrm>
          <a:prstGeom prst="roundRect">
            <a:avLst/>
          </a:prstGeom>
          <a:solidFill>
            <a:srgbClr val="1A1E35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2777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TABLE:  MemberProfile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95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Field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5695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Data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5695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Description /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555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MemberId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8555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8555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PK, Auto-increment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6843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MembershipNumber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6843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varchar(20)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6843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Unique, e.g., MEM-001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5131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UserId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5131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nvarchar(450)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5131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FK → ApplicationUser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3419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FullName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63419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3419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1707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1707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1707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Male/Female/Other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9995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DateOfBirth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99995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datetime2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99995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Age ≥ 14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8283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18283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nvarchar(15)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8283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Required, 10-digit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36571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36571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nvarchar(150)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36571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Unique, valid format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54859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Address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54859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nvarchar(300)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54859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Nullable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3147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JoinDate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373147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datetime2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73147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Default: UTC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1435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391435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 (enum)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1435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Active/Inactive/Suspended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234398"/>
            <a:ext cx="11247120" cy="320040"/>
          </a:xfrm>
          <a:prstGeom prst="roundRect">
            <a:avLst/>
          </a:prstGeom>
          <a:solidFill>
            <a:srgbClr val="1A1E35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425268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TABLE:  MembershipPlan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58187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Field Name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458187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Data 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58187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Description / Constraint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1047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PlanId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81047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81047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PK, Auto-increment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99335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PlanName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99335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nvarchar(100)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99335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Required, e.g., Basic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17623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DurationInDays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17623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17623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Range: 1–3650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35911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Price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535911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35911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Plan base price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54199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RegistrationFee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54199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554199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One-time fee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72487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RenewalFee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0" y="572487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572487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Renewal charge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90775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LateFeePerDay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4720" y="590775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590775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Late fine per day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09063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GracePeriodDays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74720" y="609063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609063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Default: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27351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IsActive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0" y="627351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bit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627351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Soft toggle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Segoe UI"/>
              </a:defRPr>
            </a:pPr>
            <a:r>
              <a:t>DATA DICTIONARY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320040"/>
          </a:xfrm>
          <a:prstGeom prst="roundRect">
            <a:avLst/>
          </a:prstGeom>
          <a:solidFill>
            <a:srgbClr val="1A1E35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TABLE:  Membership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Field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Data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44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Description /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MembershipId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733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733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MemberId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562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5623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FK → MemberProfile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39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PlanId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391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FK → MembershipPlan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219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StartDate / EndDate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219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datetime2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2219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Computed end = start +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4048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BaseAmount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048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048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Plan price at enrollment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587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Discount / FinalAmount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587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877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Final = Base - Discount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770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PaidAmount / DueAmount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770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7063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Due = Final - 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9535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RenewalCount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9535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9535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Increment on each renewal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136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ComputedStatus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136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[NotMapped]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136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Active/ExpiringSoon/Expired (auto)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56432"/>
            <a:ext cx="11247120" cy="320040"/>
          </a:xfrm>
          <a:prstGeom prst="roundRect">
            <a:avLst/>
          </a:prstGeom>
          <a:solidFill>
            <a:srgbClr val="1A1E35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TABLE:  Payment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8039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Field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8039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Data 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8039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Description / Constraint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0325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PaymentId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0325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03250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153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ReceiptNumber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153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varchar(30)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21538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Unique, e.g., RCP-20261002-0001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3982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MemberId / MembershipId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3982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39826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FK references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5811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Amount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45811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decimal(18,2)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5811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Range &gt;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7640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PaymentMethod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47640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 (enum)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476402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Cash/Card/UPI/BankTransfer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9469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PaymentType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49469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 (enum)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94690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Registration/Monthly/Renewal/Fine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1297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ReceivedBy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51297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nvarchar(100)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512978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Staff who accepted payment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449824"/>
            <a:ext cx="11247120" cy="320040"/>
          </a:xfrm>
          <a:prstGeom prst="roundRect">
            <a:avLst/>
          </a:prstGeom>
          <a:solidFill>
            <a:srgbClr val="1A1E35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5468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TABLE:  Attendance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7972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Field Name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57972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Data Type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7972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Description / Constraint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0258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AttendanceId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60258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602589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62087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MemberId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62087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62087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FK → MemberProfile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3916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BatchId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63916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639165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FK → Batch (nullable)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57453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CheckInTime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0" y="657453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datetime2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657453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Timestamp of check-in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7574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CheckOutTime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67574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datetime2?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0" y="67574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Nullable until check-out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69402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DurationMinutes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0" y="69402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0" y="694029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Computed: Out - 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71231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71231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int (enum)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0" y="71231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Segoe UI"/>
              </a:defRPr>
            </a:pPr>
            <a:r>
              <a:t>Present/Absent/Late/CheckedOut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0058400" cy="3200400"/>
          </a:xfrm>
          <a:prstGeom prst="roundRect">
            <a:avLst/>
          </a:prstGeom>
          <a:solidFill>
            <a:srgbClr val="0E1022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The Gym Membership Management System successfully demonstrates a complete, production-grade ASP.NET Core MVC application that solves real-world gym management challenges.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519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Key Achievements: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✦  Fully automated membership lifecycle — from enrollment to expiry to renewal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✦  Secure, role-based architecture with ASP.NET Core Identity and complete RBAC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✦  Real-time dashboards with Chart.js analytics and live computed statistics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✦  Complete financial tracking with payment ledger, receipts, and automated fine calculation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✦  Comprehensive audit trail ensuring full accountability for every operation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✦  Premium, responsive dark-themed UI with glassmorphism and cinematic animations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519"/>
              </a:spcAft>
              <a:defRPr sz="1300" b="1">
                <a:solidFill>
                  <a:srgbClr val="39FF14"/>
                </a:solidFill>
                <a:latin typeface="Segoe UI"/>
              </a:defRPr>
            </a:pPr>
            <a:r>
              <a:t>The system is extensible, well-architected, and ready for real-world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▸  Email &amp; SMS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Integrate SendGrid/Twilio for automated email and SMS alerts for membership expiry, payment reminders, and promotional offers.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55448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Segoe UI"/>
              </a:defRPr>
            </a:pPr>
            <a:r>
              <a:t>▸  Mobile App (Flutter/React Native)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Build a companion mobile app for members to check-in via QR code, view their dashboard, and make payments on-the-go.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▸  Online Payment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Integrate Razorpay/Stripe for online payments, enabling members to pay remotely.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20040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Segoe UI"/>
              </a:defRPr>
            </a:pPr>
            <a:r>
              <a:t>▸  Biometric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033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Fingerprint or face-recognition based check-in for seamless, contactless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▸  Diet &amp; Workout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Add trainer-created workout routines and diet plans assigned to individual members.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846320"/>
            <a:ext cx="5394960" cy="1463040"/>
          </a:xfrm>
          <a:prstGeom prst="roundRect">
            <a:avLst/>
          </a:prstGeom>
          <a:solidFill>
            <a:srgbClr val="0E1022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9377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Segoe UI"/>
              </a:defRPr>
            </a:pPr>
            <a:r>
              <a:t>▸  Multi-Branch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49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Extend the system to manage multiple gym branches with centralized admin control.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 Semibold"/>
              </a:defRPr>
            </a:pPr>
            <a:r>
              <a:t>10.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References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 Microsoft Official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3657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https://learn.microsoft.com/aspnet/core — ASP.NET Core MVC, Entity Framework Core,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59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 Entity Framework Core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9593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https://learn.microsoft.com/ef/core — Code-First, Migrations, LINQ,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611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 Tailwind CSS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61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https://tailwindcss.com/docs — Utility-first CSS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628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 Chart.js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5628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https://www.chartjs.org/docs — JavaScript charting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5.  Bootstrap Icons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8646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https://icons.getbootstrap.com — Open source icon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6.  GSAP Animation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https://greensock.com/gsap — Professional-grade JavaScript animation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7.  Anime.js Animation Library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4681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https://animejs.com — Lightweight JavaScript animation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98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8.  Flatpickr Date Picker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7698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https://flatpickr.js.org — Lightweight date/time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0716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9.  C# Programming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607161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https://learn.microsoft.com/dotnet/csharp — C# language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373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10.  SQL Server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63733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Segoe UI"/>
              </a:defRPr>
            </a:pPr>
            <a:r>
              <a:t>https://learn.microsoft.com/sql — Microsoft SQL Server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E5FF"/>
                </a:solidFill>
                <a:latin typeface="Segoe UI Black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017520"/>
            <a:ext cx="301752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Gym Membership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5CF6"/>
                </a:solidFill>
                <a:latin typeface="Segoe UI"/>
              </a:defRPr>
            </a:pPr>
            <a:r>
              <a:t>A Full-Stack ASP.NET Core MVC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83</TotalTime>
  <Words>2391</Words>
  <Application>Microsoft Office PowerPoint</Application>
  <PresentationFormat>Widescreen</PresentationFormat>
  <Paragraphs>469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mpremv2990@gmail.com</cp:lastModifiedBy>
  <cp:revision>3</cp:revision>
  <dcterms:created xsi:type="dcterms:W3CDTF">2013-01-27T09:14:16Z</dcterms:created>
  <dcterms:modified xsi:type="dcterms:W3CDTF">2026-10-03T10:10:09Z</dcterms:modified>
  <cp:category/>
</cp:coreProperties>
</file>